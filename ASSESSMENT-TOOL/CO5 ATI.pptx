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Imthiaz I" userId="6b92a52e15f4a54e" providerId="LiveId" clId="{5B5D8415-D4B2-4FA8-B5B2-027011105CC8}"/>
    <pc:docChg chg="modSld">
      <pc:chgData name="MD Imthiaz I" userId="6b92a52e15f4a54e" providerId="LiveId" clId="{5B5D8415-D4B2-4FA8-B5B2-027011105CC8}" dt="2026-08-29T05:31:46.883" v="39" actId="113"/>
      <pc:docMkLst>
        <pc:docMk/>
      </pc:docMkLst>
      <pc:sldChg chg="modSp mod">
        <pc:chgData name="MD Imthiaz I" userId="6b92a52e15f4a54e" providerId="LiveId" clId="{5B5D8415-D4B2-4FA8-B5B2-027011105CC8}" dt="2026-08-29T05:31:46.883" v="39" actId="113"/>
        <pc:sldMkLst>
          <pc:docMk/>
          <pc:sldMk cId="0" sldId="257"/>
        </pc:sldMkLst>
        <pc:spChg chg="mod">
          <ac:chgData name="MD Imthiaz I" userId="6b92a52e15f4a54e" providerId="LiveId" clId="{5B5D8415-D4B2-4FA8-B5B2-027011105CC8}" dt="2026-08-29T05:31:32.684" v="36" actId="113"/>
          <ac:spMkLst>
            <pc:docMk/>
            <pc:sldMk cId="0" sldId="257"/>
            <ac:spMk id="5" creationId="{00000000-0000-0000-0000-000000000000}"/>
          </ac:spMkLst>
        </pc:spChg>
        <pc:spChg chg="mod">
          <ac:chgData name="MD Imthiaz I" userId="6b92a52e15f4a54e" providerId="LiveId" clId="{5B5D8415-D4B2-4FA8-B5B2-027011105CC8}" dt="2026-08-29T05:31:42.609" v="38" actId="113"/>
          <ac:spMkLst>
            <pc:docMk/>
            <pc:sldMk cId="0" sldId="257"/>
            <ac:spMk id="6" creationId="{00000000-0000-0000-0000-000000000000}"/>
          </ac:spMkLst>
        </pc:spChg>
        <pc:spChg chg="mod">
          <ac:chgData name="MD Imthiaz I" userId="6b92a52e15f4a54e" providerId="LiveId" clId="{5B5D8415-D4B2-4FA8-B5B2-027011105CC8}" dt="2026-08-29T05:31:37.883" v="37" actId="113"/>
          <ac:spMkLst>
            <pc:docMk/>
            <pc:sldMk cId="0" sldId="257"/>
            <ac:spMk id="7" creationId="{00000000-0000-0000-0000-000000000000}"/>
          </ac:spMkLst>
        </pc:spChg>
        <pc:spChg chg="mod">
          <ac:chgData name="MD Imthiaz I" userId="6b92a52e15f4a54e" providerId="LiveId" clId="{5B5D8415-D4B2-4FA8-B5B2-027011105CC8}" dt="2026-08-29T05:31:46.883" v="39" actId="113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MD Imthiaz I" userId="6b92a52e15f4a54e" providerId="LiveId" clId="{5B5D8415-D4B2-4FA8-B5B2-027011105CC8}" dt="2026-08-29T04:59:40.331" v="0" actId="12"/>
        <pc:sldMkLst>
          <pc:docMk/>
          <pc:sldMk cId="0" sldId="258"/>
        </pc:sldMkLst>
        <pc:spChg chg="mod">
          <ac:chgData name="MD Imthiaz I" userId="6b92a52e15f4a54e" providerId="LiveId" clId="{5B5D8415-D4B2-4FA8-B5B2-027011105CC8}" dt="2026-08-29T04:59:40.331" v="0" actId="12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MD Imthiaz I" userId="6b92a52e15f4a54e" providerId="LiveId" clId="{5B5D8415-D4B2-4FA8-B5B2-027011105CC8}" dt="2026-08-29T04:59:52.190" v="1" actId="12"/>
        <pc:sldMkLst>
          <pc:docMk/>
          <pc:sldMk cId="0" sldId="259"/>
        </pc:sldMkLst>
        <pc:spChg chg="mod">
          <ac:chgData name="MD Imthiaz I" userId="6b92a52e15f4a54e" providerId="LiveId" clId="{5B5D8415-D4B2-4FA8-B5B2-027011105CC8}" dt="2026-08-29T04:59:52.190" v="1" actId="12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MD Imthiaz I" userId="6b92a52e15f4a54e" providerId="LiveId" clId="{5B5D8415-D4B2-4FA8-B5B2-027011105CC8}" dt="2026-08-29T05:00:04.053" v="2" actId="12"/>
        <pc:sldMkLst>
          <pc:docMk/>
          <pc:sldMk cId="0" sldId="260"/>
        </pc:sldMkLst>
        <pc:spChg chg="mod">
          <ac:chgData name="MD Imthiaz I" userId="6b92a52e15f4a54e" providerId="LiveId" clId="{5B5D8415-D4B2-4FA8-B5B2-027011105CC8}" dt="2026-08-29T05:00:04.053" v="2" actId="12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MD Imthiaz I" userId="6b92a52e15f4a54e" providerId="LiveId" clId="{5B5D8415-D4B2-4FA8-B5B2-027011105CC8}" dt="2026-08-29T05:00:31.567" v="6" actId="12"/>
        <pc:sldMkLst>
          <pc:docMk/>
          <pc:sldMk cId="0" sldId="261"/>
        </pc:sldMkLst>
        <pc:spChg chg="mod">
          <ac:chgData name="MD Imthiaz I" userId="6b92a52e15f4a54e" providerId="LiveId" clId="{5B5D8415-D4B2-4FA8-B5B2-027011105CC8}" dt="2026-08-29T05:00:11.982" v="3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MD Imthiaz I" userId="6b92a52e15f4a54e" providerId="LiveId" clId="{5B5D8415-D4B2-4FA8-B5B2-027011105CC8}" dt="2026-08-29T05:00:31.567" v="6" actId="12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MD Imthiaz I" userId="6b92a52e15f4a54e" providerId="LiveId" clId="{5B5D8415-D4B2-4FA8-B5B2-027011105CC8}" dt="2026-08-29T05:01:02.711" v="7" actId="12"/>
        <pc:sldMkLst>
          <pc:docMk/>
          <pc:sldMk cId="0" sldId="267"/>
        </pc:sldMkLst>
        <pc:spChg chg="mod">
          <ac:chgData name="MD Imthiaz I" userId="6b92a52e15f4a54e" providerId="LiveId" clId="{5B5D8415-D4B2-4FA8-B5B2-027011105CC8}" dt="2026-08-29T05:01:02.711" v="7" actId="12"/>
          <ac:spMkLst>
            <pc:docMk/>
            <pc:sldMk cId="0" sldId="267"/>
            <ac:spMk id="18" creationId="{00000000-0000-0000-0000-000000000000}"/>
          </ac:spMkLst>
        </pc:spChg>
      </pc:sldChg>
      <pc:sldChg chg="addSp modSp mod">
        <pc:chgData name="MD Imthiaz I" userId="6b92a52e15f4a54e" providerId="LiveId" clId="{5B5D8415-D4B2-4FA8-B5B2-027011105CC8}" dt="2026-08-29T05:06:17.986" v="32" actId="1076"/>
        <pc:sldMkLst>
          <pc:docMk/>
          <pc:sldMk cId="0" sldId="268"/>
        </pc:sldMkLst>
        <pc:spChg chg="mod">
          <ac:chgData name="MD Imthiaz I" userId="6b92a52e15f4a54e" providerId="LiveId" clId="{5B5D8415-D4B2-4FA8-B5B2-027011105CC8}" dt="2026-08-29T05:01:53.248" v="16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MD Imthiaz I" userId="6b92a52e15f4a54e" providerId="LiveId" clId="{5B5D8415-D4B2-4FA8-B5B2-027011105CC8}" dt="2026-08-29T05:01:27.024" v="12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MD Imthiaz I" userId="6b92a52e15f4a54e" providerId="LiveId" clId="{5B5D8415-D4B2-4FA8-B5B2-027011105CC8}" dt="2026-08-29T05:01:42.356" v="15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MD Imthiaz I" userId="6b92a52e15f4a54e" providerId="LiveId" clId="{5B5D8415-D4B2-4FA8-B5B2-027011105CC8}" dt="2026-08-29T05:01:33.519" v="13" actId="14100"/>
          <ac:spMkLst>
            <pc:docMk/>
            <pc:sldMk cId="0" sldId="268"/>
            <ac:spMk id="8" creationId="{00000000-0000-0000-0000-000000000000}"/>
          </ac:spMkLst>
        </pc:spChg>
        <pc:spChg chg="add mod">
          <ac:chgData name="MD Imthiaz I" userId="6b92a52e15f4a54e" providerId="LiveId" clId="{5B5D8415-D4B2-4FA8-B5B2-027011105CC8}" dt="2026-08-29T05:05:37.708" v="29" actId="1076"/>
          <ac:spMkLst>
            <pc:docMk/>
            <pc:sldMk cId="0" sldId="268"/>
            <ac:spMk id="19" creationId="{85B969E4-BA4E-4584-7AB7-FCE8A1A43EF0}"/>
          </ac:spMkLst>
        </pc:spChg>
        <pc:picChg chg="add mod">
          <ac:chgData name="MD Imthiaz I" userId="6b92a52e15f4a54e" providerId="LiveId" clId="{5B5D8415-D4B2-4FA8-B5B2-027011105CC8}" dt="2026-08-29T05:06:07.157" v="30" actId="14100"/>
          <ac:picMkLst>
            <pc:docMk/>
            <pc:sldMk cId="0" sldId="268"/>
            <ac:picMk id="11" creationId="{BBA70691-0267-39FB-03B8-90BC138A81F0}"/>
          </ac:picMkLst>
        </pc:picChg>
        <pc:picChg chg="add mod">
          <ac:chgData name="MD Imthiaz I" userId="6b92a52e15f4a54e" providerId="LiveId" clId="{5B5D8415-D4B2-4FA8-B5B2-027011105CC8}" dt="2026-08-29T05:04:23.718" v="21" actId="1076"/>
          <ac:picMkLst>
            <pc:docMk/>
            <pc:sldMk cId="0" sldId="268"/>
            <ac:picMk id="13" creationId="{94DE081A-7504-0133-17BC-1F1C76E1ABE5}"/>
          </ac:picMkLst>
        </pc:picChg>
        <pc:picChg chg="add mod">
          <ac:chgData name="MD Imthiaz I" userId="6b92a52e15f4a54e" providerId="LiveId" clId="{5B5D8415-D4B2-4FA8-B5B2-027011105CC8}" dt="2026-08-29T05:05:04.510" v="26" actId="14100"/>
          <ac:picMkLst>
            <pc:docMk/>
            <pc:sldMk cId="0" sldId="268"/>
            <ac:picMk id="15" creationId="{A83DF098-283E-0ABC-67DB-715AAFF46577}"/>
          </ac:picMkLst>
        </pc:picChg>
        <pc:picChg chg="add mod">
          <ac:chgData name="MD Imthiaz I" userId="6b92a52e15f4a54e" providerId="LiveId" clId="{5B5D8415-D4B2-4FA8-B5B2-027011105CC8}" dt="2026-08-29T05:05:08.936" v="27" actId="14100"/>
          <ac:picMkLst>
            <pc:docMk/>
            <pc:sldMk cId="0" sldId="268"/>
            <ac:picMk id="17" creationId="{B05DB40D-4153-0454-A8A6-D0C057379A4D}"/>
          </ac:picMkLst>
        </pc:picChg>
        <pc:picChg chg="add mod">
          <ac:chgData name="MD Imthiaz I" userId="6b92a52e15f4a54e" providerId="LiveId" clId="{5B5D8415-D4B2-4FA8-B5B2-027011105CC8}" dt="2026-08-29T05:06:17.986" v="32" actId="1076"/>
          <ac:picMkLst>
            <pc:docMk/>
            <pc:sldMk cId="0" sldId="268"/>
            <ac:picMk id="21" creationId="{E8332A60-39C5-FF7E-15C8-68ABCCBC8706}"/>
          </ac:picMkLst>
        </pc:picChg>
      </pc:sldChg>
      <pc:sldChg chg="modSp mod">
        <pc:chgData name="MD Imthiaz I" userId="6b92a52e15f4a54e" providerId="LiveId" clId="{5B5D8415-D4B2-4FA8-B5B2-027011105CC8}" dt="2026-08-29T05:21:01.298" v="35" actId="12"/>
        <pc:sldMkLst>
          <pc:docMk/>
          <pc:sldMk cId="0" sldId="281"/>
        </pc:sldMkLst>
        <pc:spChg chg="mod">
          <ac:chgData name="MD Imthiaz I" userId="6b92a52e15f4a54e" providerId="LiveId" clId="{5B5D8415-D4B2-4FA8-B5B2-027011105CC8}" dt="2026-08-29T05:21:01.298" v="35" actId="12"/>
          <ac:spMkLst>
            <pc:docMk/>
            <pc:sldMk cId="0" sldId="281"/>
            <ac:spMk id="5" creationId="{00000000-0000-0000-0000-000000000000}"/>
          </ac:spMkLst>
        </pc:spChg>
      </pc:sldChg>
      <pc:sldChg chg="modSp mod">
        <pc:chgData name="MD Imthiaz I" userId="6b92a52e15f4a54e" providerId="LiveId" clId="{5B5D8415-D4B2-4FA8-B5B2-027011105CC8}" dt="2026-08-29T05:20:20.841" v="33" actId="12"/>
        <pc:sldMkLst>
          <pc:docMk/>
          <pc:sldMk cId="0" sldId="283"/>
        </pc:sldMkLst>
        <pc:spChg chg="mod">
          <ac:chgData name="MD Imthiaz I" userId="6b92a52e15f4a54e" providerId="LiveId" clId="{5B5D8415-D4B2-4FA8-B5B2-027011105CC8}" dt="2026-08-29T05:20:20.841" v="33" actId="12"/>
          <ac:spMkLst>
            <pc:docMk/>
            <pc:sldMk cId="0" sldId="283"/>
            <ac:spMk id="5" creationId="{00000000-0000-0000-0000-000000000000}"/>
          </ac:spMkLst>
        </pc:spChg>
      </pc:sldChg>
      <pc:sldChg chg="modSp mod">
        <pc:chgData name="MD Imthiaz I" userId="6b92a52e15f4a54e" providerId="LiveId" clId="{5B5D8415-D4B2-4FA8-B5B2-027011105CC8}" dt="2026-08-29T05:20:33.032" v="34" actId="12"/>
        <pc:sldMkLst>
          <pc:docMk/>
          <pc:sldMk cId="0" sldId="284"/>
        </pc:sldMkLst>
        <pc:spChg chg="mod">
          <ac:chgData name="MD Imthiaz I" userId="6b92a52e15f4a54e" providerId="LiveId" clId="{5B5D8415-D4B2-4FA8-B5B2-027011105CC8}" dt="2026-08-29T05:20:33.032" v="34" actId="12"/>
          <ac:spMkLst>
            <pc:docMk/>
            <pc:sldMk cId="0" sldId="284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thiaz-123/campuspulse123" TargetMode="External"/><Relationship Id="rId2" Type="http://schemas.openxmlformats.org/officeDocument/2006/relationships/hyperlink" Target="https://campuspulse123.onrender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394460"/>
            <a:ext cx="109728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dirty="0"/>
              <a:t>CROSS-UTILITY SMART CAMPUS RESOURCE MONITOR:</a:t>
            </a:r>
            <a:br>
              <a:rPr dirty="0"/>
            </a:br>
            <a:r>
              <a:rPr dirty="0"/>
              <a:t>INTEGRATED ENERGY COMPETITION AND WATER LEAKAGE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Presented by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I. MD IMTHIAZ (192521360)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G SAI DEEPAK (19231142)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Supervisors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DR. C. SIVASANKAR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CSA0925 – Programming in Java</a:t>
            </a:r>
          </a:p>
        </p:txBody>
      </p:sp>
      <p:pic>
        <p:nvPicPr>
          <p:cNvPr id="4" name="Picture 3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005" y="111894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829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31536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Domain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b="1" dirty="0"/>
              <a:t>Smart Campus, Resource Monitoring and Sustainable Computing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508760"/>
            <a:ext cx="5431536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Project Summary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b="1" dirty="0"/>
              <a:t>A web-based system for centralized monitoring of electricity and water usage, leakage/anomaly alerts, and hostel energy-efficiency competition.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17620"/>
            <a:ext cx="5431536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Target Users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b="1" dirty="0"/>
              <a:t>Campus administrators, hostel managers and authorized users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3817620"/>
            <a:ext cx="5431536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Overall Purpose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b="1" dirty="0"/>
              <a:t>Improve resource visibility, identify abnormal water usage and encourage efficient energy consumption</a:t>
            </a:r>
            <a:r>
              <a:rPr dirty="0"/>
              <a:t>.</a:t>
            </a:r>
          </a:p>
        </p:txBody>
      </p:sp>
      <p:pic>
        <p:nvPicPr>
          <p:cNvPr id="9" name="Picture 8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72" y="384048"/>
            <a:ext cx="9276299" cy="69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3880" y="1490093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076" y="2094270"/>
            <a:ext cx="105224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800">
                <a:solidFill>
                  <a:srgbClr val="232323"/>
                </a:solidFill>
              </a:defRPr>
            </a:pPr>
            <a:r>
              <a:rPr dirty="0"/>
              <a:t>Campuses consume large amounts of electricity and water across multiple hostel blocks.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800">
                <a:solidFill>
                  <a:srgbClr val="232323"/>
                </a:solidFill>
              </a:defRPr>
            </a:pPr>
            <a:r>
              <a:rPr dirty="0"/>
              <a:t>Manual or disconnected monitoring makes it difficult to identify unusual consumption early.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800">
                <a:solidFill>
                  <a:srgbClr val="232323"/>
                </a:solidFill>
              </a:defRPr>
            </a:pPr>
            <a:r>
              <a:rPr dirty="0"/>
              <a:t>Water leakage and abnormal usage can continue without timely alerts.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800">
                <a:solidFill>
                  <a:srgbClr val="232323"/>
                </a:solidFill>
              </a:defRPr>
            </a:pPr>
            <a:r>
              <a:rPr dirty="0"/>
              <a:t>Energy usage is often not presented in a way that encourages healthy competition and conservation.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800">
                <a:solidFill>
                  <a:srgbClr val="232323"/>
                </a:solidFill>
              </a:defRPr>
            </a:pPr>
            <a:r>
              <a:rPr dirty="0"/>
              <a:t>Impact: resource wastage, higher operational cost and delayed decision-making.</a:t>
            </a:r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044" y="461230"/>
            <a:ext cx="9276299" cy="102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77961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t>Motivation &amp;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80881"/>
            <a:ext cx="1060704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dirty="0"/>
              <a:t>Smart campuses require centralized, accessible and timely resource information.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dirty="0"/>
              <a:t>Early identification of abnormal water consumption can reduce unnecessary wastage.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dirty="0"/>
              <a:t>Visible rankings can motivate hostel blocks to improve energy efficiency.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dirty="0"/>
              <a:t>A web application provides browser-based access and easier deployment than the earlier desktop-only approach.</a:t>
            </a:r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02" y="615557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769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Existing System / Current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87126"/>
            <a:ext cx="106070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v"/>
              <a:defRPr sz="1800">
                <a:solidFill>
                  <a:srgbClr val="232323"/>
                </a:solidFill>
              </a:defRPr>
            </a:pPr>
            <a:r>
              <a:rPr dirty="0"/>
              <a:t>Utility information may be recorded manually or viewed through separate systems.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v"/>
              <a:defRPr sz="1800">
                <a:solidFill>
                  <a:srgbClr val="232323"/>
                </a:solidFill>
              </a:defRPr>
            </a:pPr>
            <a:r>
              <a:rPr dirty="0"/>
              <a:t>Monitoring is often reactive rather than alert-driven.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v"/>
              <a:defRPr sz="1800">
                <a:solidFill>
                  <a:srgbClr val="232323"/>
                </a:solidFill>
              </a:defRPr>
            </a:pPr>
            <a:r>
              <a:rPr dirty="0"/>
              <a:t>Existing approaches may not integrate water anomaly detection and gamified energy comparison in one interface.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v"/>
              <a:defRPr sz="1800">
                <a:solidFill>
                  <a:srgbClr val="232323"/>
                </a:solidFill>
              </a:defRPr>
            </a:pPr>
            <a:r>
              <a:rPr dirty="0"/>
              <a:t>Desktop-oriented deployment limits accessibility and centralized updates.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v"/>
              <a:defRPr sz="1800">
                <a:solidFill>
                  <a:srgbClr val="232323"/>
                </a:solidFill>
              </a:defRPr>
            </a:pPr>
            <a:r>
              <a:rPr dirty="0"/>
              <a:t>Limitation: fragmented monitoring, delayed analysis and limited engagement.</a:t>
            </a:r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554" y="810786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6898" y="224942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Research / Knowledge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20042"/>
            <a:ext cx="1060704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dirty="0"/>
              <a:t>Need for an integrated campus solution combining electricity monitoring, water anomaly alerts and energy competition.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dirty="0"/>
              <a:t>Need for centralized data flow from user interaction to analysis and dashboard reporting.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dirty="0"/>
              <a:t>Need for a browser-accessible interface supported by a maintainable backend architecture.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dirty="0"/>
              <a:t>Opportunity: integrate monitoring, alerts, rankings and reports within one web application.</a:t>
            </a:r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869" y="752029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10058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t>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Web Application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/>
              <a:t>Browser-based user interface for entering and viewing utility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508760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Central Backend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Java 21 and Spring Boot 3.3.5 handle application logic and API 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47999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Utility Monitoring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Records and organizes electricity and water usage.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3047999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Leak Detection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Analyzes water-usage patterns and generates anomaly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87239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Energy Competition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Calculates efficiency indicators and displays hostel rankings.</a:t>
            </a:r>
          </a:p>
        </p:txBody>
      </p:sp>
      <p:pic>
        <p:nvPicPr>
          <p:cNvPr id="10" name="Picture 9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026" y="352093"/>
            <a:ext cx="9276299" cy="761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6123" y="2379406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837" y="2882326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Develop a centralized web-based utility monitoring system.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Record and display electricity and water consumption information.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Identify abnormal water-usage patterns and generate alerts.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Calculate and compare energy-efficiency performance across hostel blocks.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Provide dashboard and report-oriented outputs for decision support.</a:t>
            </a:r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211" y="542965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Requirements &amp;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Functional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Login/access control, utility data entry, monitoring, anomaly alerts, rankings and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508760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Non-Functional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Usability, maintainability, responsiveness, data consistency and modularity.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47999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Frontend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HTML, CSS and JavaScript.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3047999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Backend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Java 21, Spring Boot 3.3.5, embedded Apache Tomcat.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87239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Build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Maven for dependency and project management.</a:t>
            </a:r>
          </a:p>
        </p:txBody>
      </p:sp>
      <p:pic>
        <p:nvPicPr>
          <p:cNvPr id="10" name="Picture 9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351" y="411508"/>
            <a:ext cx="7853297" cy="731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Literature / Technology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2023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Smart energy management research emphasizes centralized monitoring and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508760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2024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IoT/campus resource studies focus on anomaly detection and timely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47999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2025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Sustainable campus solutions increasingly combine dashboards, automation and user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3047999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Technology Review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Spring Boot supports REST-style backend development; HTML/CSS/JavaScript provide lightweight web UI development.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87239"/>
            <a:ext cx="5431536" cy="1310639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Project Relevance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The proposed system combines monitoring, anomaly alerts and gamified comparison into one application.</a:t>
            </a:r>
          </a:p>
        </p:txBody>
      </p:sp>
      <p:pic>
        <p:nvPicPr>
          <p:cNvPr id="10" name="Picture 9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875" y="251417"/>
            <a:ext cx="8128601" cy="832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13258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723644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69AB"/>
                </a:solidFill>
              </a:defRPr>
            </a:pPr>
            <a:r>
              <a:rPr dirty="0"/>
              <a:t>Web-based architecture replacing the earlier desktop GUI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691639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User /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1284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0591" y="2011680"/>
            <a:ext cx="1691639" cy="868680"/>
          </a:xfrm>
          <a:prstGeom prst="roundRect">
            <a:avLst/>
          </a:prstGeom>
          <a:solidFill>
            <a:srgbClr val="D3E1EF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Web UI</a:t>
            </a:r>
            <a:br/>
            <a:r>
              <a:t>HTML • CSS •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2231" y="221284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011680"/>
            <a:ext cx="1691639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API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8464" y="221284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011680"/>
            <a:ext cx="1691639" cy="868680"/>
          </a:xfrm>
          <a:prstGeom prst="roundRect">
            <a:avLst/>
          </a:prstGeom>
          <a:solidFill>
            <a:srgbClr val="D3E1EF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Spring Boot</a:t>
            </a:r>
            <a:br/>
            <a:r>
              <a:t>Java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4696" y="221284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011680"/>
            <a:ext cx="1691639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Business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221284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19" y="2011680"/>
            <a:ext cx="1691639" cy="868680"/>
          </a:xfrm>
          <a:prstGeom prst="roundRect">
            <a:avLst/>
          </a:prstGeom>
          <a:solidFill>
            <a:srgbClr val="D3E1EF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Data /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46120"/>
            <a:ext cx="3544824" cy="10287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Module 1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Utility Monitoring: electricity and water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2064" y="3246120"/>
            <a:ext cx="3544824" cy="10287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Module 2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Leak Detection &amp; Anomaly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5488" y="3246120"/>
            <a:ext cx="3544824" cy="10287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Module 3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Gamified Energy Competition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03420"/>
            <a:ext cx="3544824" cy="10287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Deployment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Embedded Apache Tomcat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2064" y="4503420"/>
            <a:ext cx="3544824" cy="10287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Build &amp; Dependencies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Maven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8" y="4503420"/>
            <a:ext cx="3544824" cy="10287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Dashboard, alerts, rankings and reports</a:t>
            </a:r>
          </a:p>
        </p:txBody>
      </p:sp>
      <p:pic>
        <p:nvPicPr>
          <p:cNvPr id="23" name="Picture 22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330" y="423893"/>
            <a:ext cx="7961452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3400" y="134416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Methodology /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426464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Requirement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0824" y="202996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85416" y="1828800"/>
            <a:ext cx="1426464" cy="868680"/>
          </a:xfrm>
          <a:prstGeom prst="roundRect">
            <a:avLst/>
          </a:prstGeom>
          <a:solidFill>
            <a:srgbClr val="D3E1EF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02996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76472" y="1828800"/>
            <a:ext cx="1426464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Backend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2936" y="202996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67528" y="1828800"/>
            <a:ext cx="1426464" cy="868680"/>
          </a:xfrm>
          <a:prstGeom prst="roundRect">
            <a:avLst/>
          </a:prstGeom>
          <a:solidFill>
            <a:srgbClr val="D3E1EF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Module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02996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8584" y="1828800"/>
            <a:ext cx="1426464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2996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828800"/>
            <a:ext cx="1426464" cy="868680"/>
          </a:xfrm>
          <a:prstGeom prst="roundRect">
            <a:avLst/>
          </a:prstGeom>
          <a:solidFill>
            <a:srgbClr val="D3E1EF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6104" y="202996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0696" y="1828800"/>
            <a:ext cx="1426464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1060704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600">
                <a:solidFill>
                  <a:srgbClr val="232323"/>
                </a:solidFill>
              </a:defRPr>
            </a:pPr>
            <a:r>
              <a:rPr dirty="0"/>
              <a:t>Agile and iterative development approach.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600">
                <a:solidFill>
                  <a:srgbClr val="232323"/>
                </a:solidFill>
              </a:defRPr>
            </a:pPr>
            <a:r>
              <a:rPr dirty="0"/>
              <a:t>Frontend interactions trigger backend API requests.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600">
                <a:solidFill>
                  <a:srgbClr val="232323"/>
                </a:solidFill>
              </a:defRPr>
            </a:pPr>
            <a:r>
              <a:rPr dirty="0"/>
              <a:t>Backend processes requests and coordinates module logic.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600">
                <a:solidFill>
                  <a:srgbClr val="232323"/>
                </a:solidFill>
              </a:defRPr>
            </a:pPr>
            <a:r>
              <a:rPr dirty="0"/>
              <a:t>Validated outputs are displayed through the dashboard and reports.</a:t>
            </a:r>
          </a:p>
        </p:txBody>
      </p:sp>
      <p:pic>
        <p:nvPicPr>
          <p:cNvPr id="19" name="Picture 18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466" y="479873"/>
            <a:ext cx="8246588" cy="911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10287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t>System / Product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1697474"/>
            <a:ext cx="5431536" cy="766326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Use Case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/>
              <a:t>Login, enter utility data, monitor, detect anomalies, view rankings and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2799834"/>
            <a:ext cx="5431536" cy="766326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Class / Component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/>
              <a:t>User, </a:t>
            </a:r>
            <a:r>
              <a:rPr dirty="0" err="1"/>
              <a:t>UtilityData</a:t>
            </a:r>
            <a:r>
              <a:rPr dirty="0"/>
              <a:t>, Alert, </a:t>
            </a:r>
            <a:r>
              <a:rPr dirty="0" err="1"/>
              <a:t>EnergyCompetition</a:t>
            </a:r>
            <a:r>
              <a:rPr dirty="0"/>
              <a:t> and Report components.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3902194"/>
            <a:ext cx="5431536" cy="896112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Sequence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User → Web UI → Backend API → Processing →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5131552"/>
            <a:ext cx="5431536" cy="766327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Data Design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/>
              <a:t>Utility data, alerts, rankings and reports form the core information structure.</a:t>
            </a:r>
          </a:p>
        </p:txBody>
      </p:sp>
      <p:pic>
        <p:nvPicPr>
          <p:cNvPr id="9" name="Picture 8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904" y="384048"/>
            <a:ext cx="6840575" cy="76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A70691-0267-39FB-03B8-90BC138A8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26" y="1628176"/>
            <a:ext cx="5474682" cy="22740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DE081A-7504-0133-17BC-1F1C76E1A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08" y="2045788"/>
            <a:ext cx="1670449" cy="16765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3DF098-283E-0ABC-67DB-715AAFF46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533" y="2045310"/>
            <a:ext cx="1547867" cy="16765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5DB40D-4153-0454-A8A6-D0C057379A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622" y="2045309"/>
            <a:ext cx="1547867" cy="1676545"/>
          </a:xfrm>
          <a:prstGeom prst="rect">
            <a:avLst/>
          </a:prstGeom>
        </p:spPr>
      </p:pic>
      <p:sp>
        <p:nvSpPr>
          <p:cNvPr id="19" name="Label 1005">
            <a:extLst>
              <a:ext uri="{FF2B5EF4-FFF2-40B4-BE49-F238E27FC236}">
                <a16:creationId xmlns:a16="http://schemas.microsoft.com/office/drawing/2014/main" id="{85B969E4-BA4E-4584-7AB7-FCE8A1A43EF0}"/>
              </a:ext>
            </a:extLst>
          </p:cNvPr>
          <p:cNvSpPr txBox="1"/>
          <p:nvPr/>
        </p:nvSpPr>
        <p:spPr>
          <a:xfrm>
            <a:off x="453354" y="1720260"/>
            <a:ext cx="520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3864"/>
                </a:solidFill>
              </a:rPr>
              <a:t>Class Diagram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8332A60-39C5-FF7E-15C8-68ABCCBC87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672" y="3993141"/>
            <a:ext cx="5474682" cy="26641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1143001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Technology Stack &amp;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Frontend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HTML – structure</a:t>
            </a:r>
            <a:br/>
            <a:r>
              <a:t>CSS – interface design</a:t>
            </a:r>
            <a:br/>
            <a:r>
              <a:t>JavaScript – interactions and API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508760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Backend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/>
              <a:t>Java 21</a:t>
            </a:r>
            <a:br>
              <a:rPr dirty="0"/>
            </a:br>
            <a:r>
              <a:rPr dirty="0"/>
              <a:t>Spring Boot 3.3.5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5488" y="1508760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Server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Embedded Apache Tomcat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39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Build Tool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Maven – build and dependency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064" y="3863339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Project Structure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src/main/resources/static/index.html</a:t>
            </a:r>
            <a:br/>
            <a:r>
              <a:t>app.css</a:t>
            </a:r>
            <a:br/>
            <a:r>
              <a:t>app.js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5488" y="3863339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Development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Web browser + Java/Spring Boot development environment</a:t>
            </a:r>
          </a:p>
        </p:txBody>
      </p:sp>
      <p:pic>
        <p:nvPicPr>
          <p:cNvPr id="11" name="Picture 10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052" y="384048"/>
            <a:ext cx="7902460" cy="79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744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Module / Component 1 – Utility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9040" y="2011680"/>
            <a:ext cx="5431536" cy="50292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Input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Electricity and water usage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2946654"/>
            <a:ext cx="5431536" cy="619506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Processing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/>
              <a:t>Validate and organize utility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4935474"/>
            <a:ext cx="5431536" cy="50292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Output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/>
              <a:t>Centralized monitoring information and dashboard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3771900"/>
            <a:ext cx="5431536" cy="713232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Evidence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Web-based forms and data-driven display</a:t>
            </a:r>
          </a:p>
        </p:txBody>
      </p:sp>
      <p:pic>
        <p:nvPicPr>
          <p:cNvPr id="9" name="Picture 8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779" y="384048"/>
            <a:ext cx="7882794" cy="80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DB9AE8-7B1A-B621-DC12-2B84E8DDD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3926"/>
            <a:ext cx="6096000" cy="42412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744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t>Module / Component 2 – Leak Detection &amp; Anomaly Alert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0" y="1791653"/>
            <a:ext cx="5431536" cy="596646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Input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Water-usage readings and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2787777"/>
            <a:ext cx="5431536" cy="596646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Processing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/>
              <a:t>Analyze for abnormal consumption </a:t>
            </a:r>
            <a:r>
              <a:rPr dirty="0" err="1"/>
              <a:t>behaviour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08776" y="4924213"/>
            <a:ext cx="5431536" cy="630767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Anomaly flag and alert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3771900"/>
            <a:ext cx="5431536" cy="755523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Engineering Focus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Validation and clear alert visibility</a:t>
            </a:r>
          </a:p>
        </p:txBody>
      </p:sp>
      <p:pic>
        <p:nvPicPr>
          <p:cNvPr id="9" name="Picture 8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688" y="412202"/>
            <a:ext cx="7450176" cy="75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E1A01B-27E0-D99B-D24E-D9127BE09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7" y="1498599"/>
            <a:ext cx="5771558" cy="47203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10744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Module / Component 3 – Gamified Energy Competition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1728216"/>
            <a:ext cx="5431536" cy="62484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Input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Energy usage/performance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2670048"/>
            <a:ext cx="5431536" cy="758952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Processing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Calculate comparative efficiency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4779264"/>
            <a:ext cx="5431536" cy="783167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Hostel ranking and leaderboard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3771900"/>
            <a:ext cx="5431536" cy="758952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rPr dirty="0"/>
              <a:t>Purpose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/>
              <a:t>Encourage awareness and energy-efficient </a:t>
            </a:r>
            <a:r>
              <a:rPr dirty="0" err="1"/>
              <a:t>behaviour</a:t>
            </a:r>
            <a:endParaRPr dirty="0"/>
          </a:p>
        </p:txBody>
      </p:sp>
      <p:pic>
        <p:nvPicPr>
          <p:cNvPr id="9" name="Picture 8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607" y="422850"/>
            <a:ext cx="7509169" cy="70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62D01A-B109-6866-82E0-833000DFF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7" y="1569890"/>
            <a:ext cx="5771558" cy="45599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19" y="136702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t>Key Algorithm / Technical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62886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Collect 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202996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21838" y="1828800"/>
            <a:ext cx="2062886" cy="868680"/>
          </a:xfrm>
          <a:prstGeom prst="roundRect">
            <a:avLst/>
          </a:prstGeom>
          <a:solidFill>
            <a:srgbClr val="D3E1EF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4724" y="202996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9316" y="1828800"/>
            <a:ext cx="2062886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Store /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203" y="202996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6795" y="1828800"/>
            <a:ext cx="2062886" cy="868680"/>
          </a:xfrm>
          <a:prstGeom prst="roundRect">
            <a:avLst/>
          </a:prstGeom>
          <a:solidFill>
            <a:srgbClr val="D3E1EF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9681" y="2029968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69A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4273" y="1828800"/>
            <a:ext cx="2062886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27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94B"/>
                </a:solidFill>
              </a:defRPr>
            </a:pPr>
            <a:r>
              <a:t>Generate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5431536" cy="12115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Anomaly Logic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Compare incoming water usage with expected or previously established patterns; flag significant abnormal consumption.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108960"/>
            <a:ext cx="5431536" cy="12115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Energy Ranking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Calculate a comparable efficiency indicator and order hostel blocks accordingly.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49140"/>
            <a:ext cx="5431536" cy="12115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Technical Decision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Separate frontend presentation from Spring Boot backend logic for maintainability and easier deployment.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4549140"/>
            <a:ext cx="5431536" cy="12115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API Interaction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JavaScript handles user interactions and communicates with backend endpoints.</a:t>
            </a:r>
          </a:p>
        </p:txBody>
      </p:sp>
      <p:pic>
        <p:nvPicPr>
          <p:cNvPr id="18" name="Picture 17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716" y="487689"/>
            <a:ext cx="7187261" cy="84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10287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Prototype / Working Model</a:t>
            </a:r>
          </a:p>
        </p:txBody>
      </p:sp>
      <p:pic>
        <p:nvPicPr>
          <p:cNvPr id="9" name="Picture 8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534" y="456418"/>
            <a:ext cx="6142484" cy="70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8E0D9-1AF1-0AAD-15F7-EAF0AA1ED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78" y="1806722"/>
            <a:ext cx="3939881" cy="45409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D85451-E009-EAD5-F943-77578098D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800" y="1806721"/>
            <a:ext cx="7874000" cy="45409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10287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Testing &amp;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31536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Unit Testing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Login validation, utility processing, anomaly logic, efficiency calculation and alert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508760"/>
            <a:ext cx="5431536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Integration Testing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Web UI → Backend API → Processing →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17620"/>
            <a:ext cx="5431536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Validation Focus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Correct handling of valid/invalid inputs and expected output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3817620"/>
            <a:ext cx="5431536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Expected Evidence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Functional outputs, alert behaviour, ranking correctness and report consistency.</a:t>
            </a:r>
          </a:p>
        </p:txBody>
      </p:sp>
      <p:pic>
        <p:nvPicPr>
          <p:cNvPr id="9" name="Picture 8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218" y="437348"/>
            <a:ext cx="7401015" cy="59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11430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Results &amp; Performance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44824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Functional Result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The integrated design supports centralized utility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508760"/>
            <a:ext cx="3544824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Leak Detection Result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Abnormal water-usage conditions can be surfaced as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5488" y="1508760"/>
            <a:ext cx="3544824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Competition Result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Energy information can be transformed into comparative rankings.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17620"/>
            <a:ext cx="3544824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Web Migration Benefit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Browser-based access separates UI from backend logic and simplifies centralized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064" y="3817620"/>
            <a:ext cx="3544824" cy="208026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Note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Quantitative benchmark values can be added after final execution/testing.</a:t>
            </a:r>
          </a:p>
        </p:txBody>
      </p:sp>
      <p:pic>
        <p:nvPicPr>
          <p:cNvPr id="10" name="Picture 9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380" y="551648"/>
            <a:ext cx="7528834" cy="59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Comparison with Existing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011680" cy="658368"/>
          </a:xfrm>
          <a:prstGeom prst="rect">
            <a:avLst/>
          </a:prstGeom>
          <a:solidFill>
            <a:srgbClr val="1229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Aspect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417320"/>
            <a:ext cx="4023360" cy="658368"/>
          </a:xfrm>
          <a:prstGeom prst="rect">
            <a:avLst/>
          </a:prstGeom>
          <a:solidFill>
            <a:srgbClr val="1229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Existing / Fragmented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417320"/>
            <a:ext cx="5029200" cy="658368"/>
          </a:xfrm>
          <a:prstGeom prst="rect">
            <a:avLst/>
          </a:prstGeom>
          <a:solidFill>
            <a:srgbClr val="1229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Proposed Web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75688"/>
            <a:ext cx="2011680" cy="658368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075688"/>
            <a:ext cx="4023360" cy="658368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Manual / separate or desktop-oriented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2075688"/>
            <a:ext cx="5029200" cy="658368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Browser-based centralized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34056"/>
            <a:ext cx="2011680" cy="658368"/>
          </a:xfrm>
          <a:prstGeom prst="rect">
            <a:avLst/>
          </a:prstGeom>
          <a:solidFill>
            <a:srgbClr val="D3E1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Monitoring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734056"/>
            <a:ext cx="4023360" cy="658368"/>
          </a:xfrm>
          <a:prstGeom prst="rect">
            <a:avLst/>
          </a:prstGeom>
          <a:solidFill>
            <a:srgbClr val="D3E1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Separate utility 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734056"/>
            <a:ext cx="5029200" cy="658368"/>
          </a:xfrm>
          <a:prstGeom prst="rect">
            <a:avLst/>
          </a:prstGeom>
          <a:solidFill>
            <a:srgbClr val="D3E1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Integrated electricity + water monitoring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92424"/>
            <a:ext cx="2011680" cy="658368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Leak Handling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3392424"/>
            <a:ext cx="4023360" cy="658368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Reactive or delayed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3392424"/>
            <a:ext cx="5029200" cy="658368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Pattern-based anomaly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50791"/>
            <a:ext cx="2011680" cy="658368"/>
          </a:xfrm>
          <a:prstGeom prst="rect">
            <a:avLst/>
          </a:prstGeom>
          <a:solidFill>
            <a:srgbClr val="D3E1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Energy Engagement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4050791"/>
            <a:ext cx="4023360" cy="658368"/>
          </a:xfrm>
          <a:prstGeom prst="rect">
            <a:avLst/>
          </a:prstGeom>
          <a:solidFill>
            <a:srgbClr val="D3E1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Limited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4050791"/>
            <a:ext cx="5029200" cy="658368"/>
          </a:xfrm>
          <a:prstGeom prst="rect">
            <a:avLst/>
          </a:prstGeom>
          <a:solidFill>
            <a:srgbClr val="D3E1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Gamified hostel ranking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09159"/>
            <a:ext cx="2011680" cy="658368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4709159"/>
            <a:ext cx="4023360" cy="658368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UI and logic may be tightly coupled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4709159"/>
            <a:ext cx="5029200" cy="658368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2323"/>
                </a:solidFill>
              </a:defRPr>
            </a:pPr>
            <a:r>
              <a:t>Frontend + API backend separation</a:t>
            </a:r>
          </a:p>
        </p:txBody>
      </p:sp>
      <p:pic>
        <p:nvPicPr>
          <p:cNvPr id="23" name="Picture 22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033" y="539495"/>
            <a:ext cx="7351853" cy="50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9901" y="10058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Challenges &amp; Engineering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Architecture Migration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Changed from the earlier desktop concept to a browser-based web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508760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UI–Backend Integration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Used JavaScript API interactions with a Spring Boot backend.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5488" y="1508760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Module Coordination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Defined clear responsibilities for monitoring, anomaly detection and competition.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39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Data Flow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Structured flow from user action to processing and dashboard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064" y="3863339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Testing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Separated unit-level logic validation from integration-level workflow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5488" y="3863339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Trade-off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Web architecture improves accessibility but requires careful API and deployment coordination.</a:t>
            </a:r>
          </a:p>
        </p:txBody>
      </p:sp>
      <p:pic>
        <p:nvPicPr>
          <p:cNvPr id="11" name="Picture 10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380" y="433558"/>
            <a:ext cx="7371518" cy="65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Individual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44824" cy="42976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I. MD IMTHIAZ (192521360)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Project contribution: module design, implementation and validation responsibilities to be finalized with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508760"/>
            <a:ext cx="3544824" cy="42976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G SAI DEEPAK (19231142)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Project contribution: web application development, frontend/backend support and presentation/documentation responsibilities to be finalized with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5488" y="1508760"/>
            <a:ext cx="3544824" cy="42976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Team Contribution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Joint requirement analysis, architecture refinement, testing planning and project review preparation.</a:t>
            </a:r>
          </a:p>
        </p:txBody>
      </p:sp>
      <p:pic>
        <p:nvPicPr>
          <p:cNvPr id="8" name="Picture 7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389" y="460208"/>
            <a:ext cx="7430511" cy="59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4262" y="105156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t>Project Progress /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44824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Problem Identification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508760"/>
            <a:ext cx="3544824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Review-1 Feedback Analysis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5488" y="1508760"/>
            <a:ext cx="3544824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Three-Module Architecture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3544824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UML / Database Planning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064" y="3108960"/>
            <a:ext cx="3544824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Desktop → Web Architecture Change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5488" y="3108960"/>
            <a:ext cx="3544824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Frontend Development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In Progress / Implemented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9160"/>
            <a:ext cx="3544824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Spring Boot Backend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In Progress / Implemented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064" y="4709160"/>
            <a:ext cx="3544824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Full Integration &amp; Validation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Final Stage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5488" y="4709160"/>
            <a:ext cx="3544824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Deployment &amp; Documentation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Final Stage</a:t>
            </a:r>
          </a:p>
        </p:txBody>
      </p:sp>
      <p:pic>
        <p:nvPicPr>
          <p:cNvPr id="14" name="Picture 13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818" y="435844"/>
            <a:ext cx="7774640" cy="68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0236" y="17122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4907"/>
            <a:ext cx="10607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ü"/>
              <a:defRPr sz="1800">
                <a:solidFill>
                  <a:srgbClr val="232323"/>
                </a:solidFill>
              </a:defRPr>
            </a:pPr>
            <a:r>
              <a:rPr dirty="0"/>
              <a:t>Current project scope focuses on the defined three software modules.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ü"/>
              <a:defRPr sz="1800">
                <a:solidFill>
                  <a:srgbClr val="232323"/>
                </a:solidFill>
              </a:defRPr>
            </a:pPr>
            <a:r>
              <a:rPr dirty="0"/>
              <a:t>Anomaly accuracy depends on the available water-usage data and chosen detection logic.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ü"/>
              <a:defRPr sz="1800">
                <a:solidFill>
                  <a:srgbClr val="232323"/>
                </a:solidFill>
              </a:defRPr>
            </a:pPr>
            <a:r>
              <a:rPr dirty="0"/>
              <a:t>Real-time IoT sensor integration is outside the current prototype scope unless added in the next phase.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ü"/>
              <a:defRPr sz="1800">
                <a:solidFill>
                  <a:srgbClr val="232323"/>
                </a:solidFill>
              </a:defRPr>
            </a:pPr>
            <a:r>
              <a:rPr dirty="0"/>
              <a:t>Quantitative performance benchmarking requires final deployment-scale testing.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ü"/>
              <a:defRPr sz="1800">
                <a:solidFill>
                  <a:srgbClr val="232323"/>
                </a:solidFill>
              </a:defRPr>
            </a:pPr>
            <a:r>
              <a:rPr dirty="0"/>
              <a:t>Future production deployment would require stronger authentication, monitoring and security hardening.</a:t>
            </a:r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869" y="507766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10058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IoT Integration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Automatic electricity and water data collection through sensors/meters.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508760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Advanced Analytics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Machine learning-based anomaly detection and consumption forecasting.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5488" y="1508760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Notifications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Email/SMS/app notifications for critical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39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Scalability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Support additional buildings, campuses and user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064" y="3863339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Mobile Access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Responsive or dedicated mobile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5488" y="3863339"/>
            <a:ext cx="3544824" cy="2125980"/>
          </a:xfrm>
          <a:prstGeom prst="roundRect">
            <a:avLst/>
          </a:prstGeom>
          <a:solidFill>
            <a:srgbClr val="EEF4FA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2294B"/>
                </a:solidFill>
              </a:defRPr>
            </a:pPr>
            <a:r>
              <a:t>Commercialization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Potential smart-campus sustainability platform with configurable modules.</a:t>
            </a:r>
          </a:p>
        </p:txBody>
      </p:sp>
      <p:pic>
        <p:nvPicPr>
          <p:cNvPr id="11" name="Picture 10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549" y="462116"/>
            <a:ext cx="7155207" cy="65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3880" y="1917291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t>Conclusion &amp; Project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0211"/>
            <a:ext cx="106070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800">
                <a:solidFill>
                  <a:srgbClr val="232323"/>
                </a:solidFill>
              </a:defRPr>
            </a:pPr>
            <a:r>
              <a:rPr dirty="0"/>
              <a:t>The project addresses the need for integrated smart-campus utility monitoring.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800">
                <a:solidFill>
                  <a:srgbClr val="232323"/>
                </a:solidFill>
              </a:defRPr>
            </a:pPr>
            <a:r>
              <a:rPr dirty="0"/>
              <a:t>The solution combines utility monitoring, water anomaly alerts and gamified energy competition.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800">
                <a:solidFill>
                  <a:srgbClr val="232323"/>
                </a:solidFill>
              </a:defRPr>
            </a:pPr>
            <a:r>
              <a:rPr dirty="0"/>
              <a:t>The project architecture has evolved from a desktop-oriented concept into a web application using HTML, CSS, JavaScript, Java 21 and Spring Boot 3.3.5.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800">
                <a:solidFill>
                  <a:srgbClr val="232323"/>
                </a:solidFill>
              </a:defRPr>
            </a:pPr>
            <a:r>
              <a:rPr dirty="0"/>
              <a:t>The modular design supports maintainability, clearer data flow and future enhancement.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800">
                <a:solidFill>
                  <a:srgbClr val="232323"/>
                </a:solidFill>
              </a:defRPr>
            </a:pPr>
            <a:r>
              <a:rPr dirty="0"/>
              <a:t>Expected outcome: improved visibility, faster identification of abnormal water usage and increased awareness of energy efficiency.</a:t>
            </a:r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90" y="559317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54507"/>
            <a:ext cx="106070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700">
                <a:solidFill>
                  <a:srgbClr val="232323"/>
                </a:solidFill>
              </a:defRPr>
            </a:pPr>
            <a:r>
              <a:rPr dirty="0"/>
              <a:t>Spring Boot Documentation – Spring Boot 3.3.x reference material.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700">
                <a:solidFill>
                  <a:srgbClr val="232323"/>
                </a:solidFill>
              </a:defRPr>
            </a:pPr>
            <a:r>
              <a:rPr dirty="0"/>
              <a:t>Java Documentation – Java 21 language and platform resources.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700">
                <a:solidFill>
                  <a:srgbClr val="232323"/>
                </a:solidFill>
              </a:defRPr>
            </a:pPr>
            <a:r>
              <a:rPr dirty="0"/>
              <a:t>Apache Maven Documentation – build and dependency management.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700">
                <a:solidFill>
                  <a:srgbClr val="232323"/>
                </a:solidFill>
              </a:defRPr>
            </a:pPr>
            <a:r>
              <a:rPr dirty="0"/>
              <a:t>HTML, CSS and JavaScript web development documentation.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q"/>
              <a:defRPr sz="1700">
                <a:solidFill>
                  <a:srgbClr val="232323"/>
                </a:solidFill>
              </a:defRPr>
            </a:pPr>
            <a:r>
              <a:rPr dirty="0"/>
              <a:t>Research and technology literature related to smart campuses, energy monitoring, water anomaly detection and sustainable computing.</a:t>
            </a:r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173" y="487738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12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27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7998" y="2332955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94B"/>
                </a:solidFill>
              </a:defRPr>
            </a:pPr>
            <a:r>
              <a:rPr dirty="0"/>
              <a:t>Project Hosting / Deployment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998" y="2835875"/>
            <a:ext cx="6274025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n-US" dirty="0"/>
              <a:t>Live Url: </a:t>
            </a:r>
            <a:r>
              <a:rPr lang="en-US" dirty="0">
                <a:hlinkClick r:id="rId2"/>
              </a:rPr>
              <a:t>https://campuspulse123.onrender.com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GitHub : </a:t>
            </a:r>
            <a:r>
              <a:rPr lang="en-US" dirty="0">
                <a:hlinkClick r:id="rId3"/>
              </a:rPr>
              <a:t>https://github.com/Imthiaz-123/campuspulse123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dirty="0"/>
          </a:p>
        </p:txBody>
      </p:sp>
      <p:pic>
        <p:nvPicPr>
          <p:cNvPr id="9" name="Picture 8" descr="SIMATS ENGINEERING —Profile">
            <a:extLst>
              <a:ext uri="{FF2B5EF4-FFF2-40B4-BE49-F238E27FC236}">
                <a16:creationId xmlns:a16="http://schemas.microsoft.com/office/drawing/2014/main" id="{9A377CD3-D1F8-C808-759C-6BAD782E8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90" y="559317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1706</Words>
  <Application>Microsoft Office PowerPoint</Application>
  <PresentationFormat>Widescreen</PresentationFormat>
  <Paragraphs>303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DEEPAK GONTLA</dc:creator>
  <cp:keywords/>
  <dc:description>generated using python-pptx</dc:description>
  <cp:lastModifiedBy>MD Imthiaz I</cp:lastModifiedBy>
  <cp:revision>4</cp:revision>
  <dcterms:created xsi:type="dcterms:W3CDTF">2013-01-27T09:14:16Z</dcterms:created>
  <dcterms:modified xsi:type="dcterms:W3CDTF">2026-08-29T05:31:51Z</dcterms:modified>
  <cp:category/>
</cp:coreProperties>
</file>