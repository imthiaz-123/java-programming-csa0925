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7" r:id="rId2"/>
    <p:sldId id="258" r:id="rId3"/>
    <p:sldId id="259" r:id="rId4"/>
    <p:sldId id="272" r:id="rId5"/>
    <p:sldId id="260" r:id="rId6"/>
    <p:sldId id="261" r:id="rId7"/>
    <p:sldId id="262" r:id="rId8"/>
    <p:sldId id="273" r:id="rId9"/>
    <p:sldId id="266" r:id="rId10"/>
    <p:sldId id="267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B0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6CE70E-E98A-4FEC-8976-C2EC4A9E4905}" v="80" dt="2026-08-04T16:15:39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80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58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690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9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67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55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0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035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98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229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989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56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SIMATS ENGINEERING —Profile">
            <a:extLst>
              <a:ext uri="{FF2B5EF4-FFF2-40B4-BE49-F238E27FC236}">
                <a16:creationId xmlns:a16="http://schemas.microsoft.com/office/drawing/2014/main" id="{8C180FB9-BCC6-3B3E-9450-A758353B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49" y="548780"/>
            <a:ext cx="9276299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2DE95A-BDE6-2496-6C1D-4F7F9A39E94F}"/>
              </a:ext>
            </a:extLst>
          </p:cNvPr>
          <p:cNvSpPr txBox="1"/>
          <p:nvPr/>
        </p:nvSpPr>
        <p:spPr>
          <a:xfrm>
            <a:off x="1209675" y="2393744"/>
            <a:ext cx="105251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/>
              <a:t>CROSS-UTILITY SMART CAMPUS RESOURCE MONITOR: INTEGRATED ENERGY COMPETITION AND WATER LEAKAGE DETECTION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8646CF-99D9-8FF8-C54B-0D8918F67D4D}"/>
              </a:ext>
            </a:extLst>
          </p:cNvPr>
          <p:cNvSpPr txBox="1"/>
          <p:nvPr/>
        </p:nvSpPr>
        <p:spPr>
          <a:xfrm>
            <a:off x="8078259" y="4464256"/>
            <a:ext cx="3952875" cy="16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 </a:t>
            </a:r>
          </a:p>
          <a:p>
            <a:pPr algn="ctr">
              <a:lnSpc>
                <a:spcPts val="25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MD IMTHIAZ(192521360)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5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SAI DEEPAK(19231142)</a:t>
            </a:r>
          </a:p>
          <a:p>
            <a:pPr algn="ctr">
              <a:lnSpc>
                <a:spcPts val="25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5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1E2C56-9894-3F34-F1ED-E789D3D77471}"/>
              </a:ext>
            </a:extLst>
          </p:cNvPr>
          <p:cNvSpPr txBox="1"/>
          <p:nvPr/>
        </p:nvSpPr>
        <p:spPr>
          <a:xfrm>
            <a:off x="930275" y="4309832"/>
            <a:ext cx="3009900" cy="713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Supervisors</a:t>
            </a:r>
          </a:p>
          <a:p>
            <a:pPr algn="ctr">
              <a:lnSpc>
                <a:spcPts val="25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C. SIVASANKAR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8DA73-4A28-F946-A77D-431206F650D4}"/>
              </a:ext>
            </a:extLst>
          </p:cNvPr>
          <p:cNvSpPr txBox="1"/>
          <p:nvPr/>
        </p:nvSpPr>
        <p:spPr>
          <a:xfrm>
            <a:off x="2435225" y="5839500"/>
            <a:ext cx="6710362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CSA0925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Programming in Java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155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FF3186-FE9B-E6C7-5810-015C588FB7A2}"/>
              </a:ext>
            </a:extLst>
          </p:cNvPr>
          <p:cNvSpPr txBox="1"/>
          <p:nvPr/>
        </p:nvSpPr>
        <p:spPr>
          <a:xfrm>
            <a:off x="1778529" y="629349"/>
            <a:ext cx="76533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PROBLEM BACKGROUND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B32D98-E6AB-EE1C-9EC6-38846AC5B1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" y="451950"/>
            <a:ext cx="861059" cy="855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9C2422-47B0-B10D-93E2-A218A16B6CD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1068" y="335851"/>
            <a:ext cx="926360" cy="108741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097B0-3B52-41D6-AD32-CD33A27A3583}"/>
              </a:ext>
            </a:extLst>
          </p:cNvPr>
          <p:cNvSpPr txBox="1"/>
          <p:nvPr/>
        </p:nvSpPr>
        <p:spPr>
          <a:xfrm>
            <a:off x="643467" y="150313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Application Domain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Smart Campus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Energy and Water Resource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IoT-Based Utility Monitoring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434929-DE1B-938E-A55A-66D09A288A4F}"/>
              </a:ext>
            </a:extLst>
          </p:cNvPr>
          <p:cNvSpPr txBox="1"/>
          <p:nvPr/>
        </p:nvSpPr>
        <p:spPr>
          <a:xfrm>
            <a:off x="535940" y="2837174"/>
            <a:ext cx="4953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Current Scenario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Campus utilities such as electricity and water are often monitored separately.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Different utility systems may result in fragmented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Abnormal water usage may not be identified immediately.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Energy conservation can be improved through user engagement and competition.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DF1A6-7C96-613D-58D7-081FFC503964}"/>
              </a:ext>
            </a:extLst>
          </p:cNvPr>
          <p:cNvSpPr txBox="1"/>
          <p:nvPr/>
        </p:nvSpPr>
        <p:spPr>
          <a:xfrm>
            <a:off x="6155267" y="1717873"/>
            <a:ext cx="5816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Need for the Project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 energy and water monitoring into one platform.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Detect abnormal water-flow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 timely maintenance alerts.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Encourage energy-efficient behaviour through hostel rankings.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2B1A75-1587-5832-9BAA-A3877D5EF14F}"/>
              </a:ext>
            </a:extLst>
          </p:cNvPr>
          <p:cNvSpPr txBox="1"/>
          <p:nvPr/>
        </p:nvSpPr>
        <p:spPr>
          <a:xfrm>
            <a:off x="6155267" y="3877533"/>
            <a:ext cx="47667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Target Users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Campus Administrators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Hostel Wardens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Maintenance Staff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Campus Management</a:t>
            </a:r>
          </a:p>
        </p:txBody>
      </p:sp>
    </p:spTree>
    <p:extLst>
      <p:ext uri="{BB962C8B-B14F-4D97-AF65-F5344CB8AC3E}">
        <p14:creationId xmlns:p14="http://schemas.microsoft.com/office/powerpoint/2010/main" val="155263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3FE467-EFB2-9B51-1E6B-17570744FEBD}"/>
              </a:ext>
            </a:extLst>
          </p:cNvPr>
          <p:cNvSpPr txBox="1"/>
          <p:nvPr/>
        </p:nvSpPr>
        <p:spPr>
          <a:xfrm>
            <a:off x="1684337" y="779353"/>
            <a:ext cx="76967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F0B72E-DA0E-0D3C-D960-4F7070350F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84" y="237907"/>
            <a:ext cx="1090288" cy="1082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2ED28-D3B8-7249-E1F7-736AC45B1C2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690" y="297174"/>
            <a:ext cx="1036426" cy="1216618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25F4B6-2242-94B0-C7B9-BAC03613D597}"/>
              </a:ext>
            </a:extLst>
          </p:cNvPr>
          <p:cNvSpPr txBox="1"/>
          <p:nvPr/>
        </p:nvSpPr>
        <p:spPr>
          <a:xfrm>
            <a:off x="795228" y="187147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Problem Definition</a:t>
            </a:r>
          </a:p>
          <a:p>
            <a:pPr algn="just">
              <a:buNone/>
            </a:pPr>
            <a:r>
              <a:rPr lang="en-IN" dirty="0"/>
              <a:t>Smart campus initiatives generally monitor individual utilities separately, resulting in fragmented dashboards and limited cross-utility insights. An integrated system is required to monitor energy and water usage, identify abnormal water-flow patterns, and encourage energy efficiency through gamification.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B15C8-EE3E-360D-AF85-1B0B9B8B30F9}"/>
              </a:ext>
            </a:extLst>
          </p:cNvPr>
          <p:cNvSpPr txBox="1"/>
          <p:nvPr/>
        </p:nvSpPr>
        <p:spPr>
          <a:xfrm>
            <a:off x="795228" y="411817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Limitations of Current Systems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Separate monitoring of individual utilities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Lack of unified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Delayed identification of water leakage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Limited visibility into abnormal water consumption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Lack of motivation for energy conservation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C708A0-555D-54D1-B9E8-9C90159F1866}"/>
              </a:ext>
            </a:extLst>
          </p:cNvPr>
          <p:cNvSpPr txBox="1"/>
          <p:nvPr/>
        </p:nvSpPr>
        <p:spPr>
          <a:xfrm>
            <a:off x="6531716" y="4333545"/>
            <a:ext cx="4978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Expected Impact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Improved utility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Faster identification of possible leaks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Better energy-management awareness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Improved resource conservation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Centralized campus utility information</a:t>
            </a:r>
          </a:p>
        </p:txBody>
      </p:sp>
    </p:spTree>
    <p:extLst>
      <p:ext uri="{BB962C8B-B14F-4D97-AF65-F5344CB8AC3E}">
        <p14:creationId xmlns:p14="http://schemas.microsoft.com/office/powerpoint/2010/main" val="4327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EBAEAF-3399-46CA-3139-DF27515FBC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46" y="438950"/>
            <a:ext cx="993987" cy="987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F13D0E-F59D-07A0-449F-7D5A04F4D47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5667" y="474751"/>
            <a:ext cx="875452" cy="91564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59EBAA-1255-D4A1-DBB1-4DEDA93BCA82}"/>
              </a:ext>
            </a:extLst>
          </p:cNvPr>
          <p:cNvSpPr txBox="1"/>
          <p:nvPr/>
        </p:nvSpPr>
        <p:spPr>
          <a:xfrm>
            <a:off x="2269066" y="7440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D2144-0239-FB62-5E70-8AEC4DB29C23}"/>
              </a:ext>
            </a:extLst>
          </p:cNvPr>
          <p:cNvSpPr txBox="1"/>
          <p:nvPr/>
        </p:nvSpPr>
        <p:spPr>
          <a:xfrm>
            <a:off x="626533" y="19144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Primary Objective</a:t>
            </a:r>
          </a:p>
          <a:p>
            <a:pPr>
              <a:buNone/>
            </a:pPr>
            <a:r>
              <a:rPr lang="en-IN" dirty="0"/>
              <a:t>To develop an integrated smart campus resource monitoring system that combines energy monitoring, water leakage detection, and gamified energy-efficiency comparison</a:t>
            </a:r>
            <a:r>
              <a:rPr lang="en-IN" b="1" dirty="0"/>
              <a:t>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1AF26-FEFE-D629-CFB4-0860DF36A4C4}"/>
              </a:ext>
            </a:extLst>
          </p:cNvPr>
          <p:cNvSpPr txBox="1"/>
          <p:nvPr/>
        </p:nvSpPr>
        <p:spPr>
          <a:xfrm>
            <a:off x="626533" y="342900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Specific Objectives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To collect energy consumption and water-flow data from hostel blocks.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To monitor utility usage through a centralized system.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To identify abnormal water-flow patterns indicating possible leakage.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To generate alerts for detected water anomalies.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To rank hostel blocks based on energy efficiency.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14A8EC-3AC8-D9ED-0816-DDD8B2F9C9FF}"/>
              </a:ext>
            </a:extLst>
          </p:cNvPr>
          <p:cNvSpPr txBox="1"/>
          <p:nvPr/>
        </p:nvSpPr>
        <p:spPr>
          <a:xfrm>
            <a:off x="7001934" y="222707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 Scope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Hostel-level utility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Water-flow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Leak/anomaly alerts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Energy-efficiency leaderboard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Centralized dashboard</a:t>
            </a:r>
          </a:p>
        </p:txBody>
      </p:sp>
    </p:spTree>
    <p:extLst>
      <p:ext uri="{BB962C8B-B14F-4D97-AF65-F5344CB8AC3E}">
        <p14:creationId xmlns:p14="http://schemas.microsoft.com/office/powerpoint/2010/main" val="783201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1C8548-0271-8303-2D16-AE281DFBAF74}"/>
              </a:ext>
            </a:extLst>
          </p:cNvPr>
          <p:cNvSpPr txBox="1"/>
          <p:nvPr/>
        </p:nvSpPr>
        <p:spPr>
          <a:xfrm>
            <a:off x="1319213" y="465207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B1D81F-8615-E89D-B59D-5F95884EA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99" y="325331"/>
            <a:ext cx="993734" cy="987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A602B4-2F51-18C9-55C9-F04FDA77D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501" y="325331"/>
            <a:ext cx="877900" cy="914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33F486-48B5-9970-72AB-EE1202F6BDCD}"/>
              </a:ext>
            </a:extLst>
          </p:cNvPr>
          <p:cNvSpPr txBox="1"/>
          <p:nvPr/>
        </p:nvSpPr>
        <p:spPr>
          <a:xfrm>
            <a:off x="2082800" y="5267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1B55ACF-DAEA-9C67-2A7E-C00777680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412253"/>
              </p:ext>
            </p:extLst>
          </p:nvPr>
        </p:nvGraphicFramePr>
        <p:xfrm>
          <a:off x="1574800" y="1376645"/>
          <a:ext cx="8856134" cy="30831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91613">
                  <a:extLst>
                    <a:ext uri="{9D8B030D-6E8A-4147-A177-3AD203B41FA5}">
                      <a16:colId xmlns:a16="http://schemas.microsoft.com/office/drawing/2014/main" val="1887208079"/>
                    </a:ext>
                  </a:extLst>
                </a:gridCol>
                <a:gridCol w="708378">
                  <a:extLst>
                    <a:ext uri="{9D8B030D-6E8A-4147-A177-3AD203B41FA5}">
                      <a16:colId xmlns:a16="http://schemas.microsoft.com/office/drawing/2014/main" val="2518879741"/>
                    </a:ext>
                  </a:extLst>
                </a:gridCol>
                <a:gridCol w="1930524">
                  <a:extLst>
                    <a:ext uri="{9D8B030D-6E8A-4147-A177-3AD203B41FA5}">
                      <a16:colId xmlns:a16="http://schemas.microsoft.com/office/drawing/2014/main" val="3989145830"/>
                    </a:ext>
                  </a:extLst>
                </a:gridCol>
                <a:gridCol w="2740101">
                  <a:extLst>
                    <a:ext uri="{9D8B030D-6E8A-4147-A177-3AD203B41FA5}">
                      <a16:colId xmlns:a16="http://schemas.microsoft.com/office/drawing/2014/main" val="3492374355"/>
                    </a:ext>
                  </a:extLst>
                </a:gridCol>
                <a:gridCol w="2885518">
                  <a:extLst>
                    <a:ext uri="{9D8B030D-6E8A-4147-A177-3AD203B41FA5}">
                      <a16:colId xmlns:a16="http://schemas.microsoft.com/office/drawing/2014/main" val="3667353684"/>
                    </a:ext>
                  </a:extLst>
                </a:gridCol>
              </a:tblGrid>
              <a:tr h="49237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Research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996527"/>
                  </a:ext>
                </a:extLst>
              </a:tr>
              <a:tr h="49237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Smart Campus Energy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Energy management and cloud-based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Mainly energy-focused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187207"/>
                  </a:ext>
                </a:extLst>
              </a:tr>
              <a:tr h="49237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Campus Electricity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Smart campus electricity monitoring and behaviour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Requires smart-meter 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027142"/>
                  </a:ext>
                </a:extLst>
              </a:tr>
              <a:tr h="49237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Smart Campus Energy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AI-supported energy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Focuses mainly on energy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544599"/>
                  </a:ext>
                </a:extLst>
              </a:tr>
              <a:tr h="49237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Water Leakage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Deep learning and CFD-based leak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Computationally 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8706"/>
                  </a:ext>
                </a:extLst>
              </a:tr>
              <a:tr h="492372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Water Leakage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Digital twin + transformer-based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Complex 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9212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945E712-980C-ADE6-F162-EDD3EA444963}"/>
              </a:ext>
            </a:extLst>
          </p:cNvPr>
          <p:cNvSpPr txBox="1"/>
          <p:nvPr/>
        </p:nvSpPr>
        <p:spPr>
          <a:xfrm>
            <a:off x="1634067" y="4663369"/>
            <a:ext cx="85174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Research Gap</a:t>
            </a:r>
          </a:p>
          <a:p>
            <a:pPr algn="just">
              <a:buNone/>
            </a:pPr>
            <a:r>
              <a:rPr lang="en-IN" dirty="0"/>
              <a:t>Existing systems mainly focus on individual utilities or require complex hardware/AI infrastructure. There is a need for a lightweight software-based platform that integrates utility monitoring, water-usage anomaly detection, and gamified energy-efficiency comparison in one campus system.</a:t>
            </a:r>
          </a:p>
        </p:txBody>
      </p:sp>
    </p:spTree>
    <p:extLst>
      <p:ext uri="{BB962C8B-B14F-4D97-AF65-F5344CB8AC3E}">
        <p14:creationId xmlns:p14="http://schemas.microsoft.com/office/powerpoint/2010/main" val="418506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49BF6D-9CE1-87DA-C643-D2265FC76946}"/>
              </a:ext>
            </a:extLst>
          </p:cNvPr>
          <p:cNvSpPr txBox="1"/>
          <p:nvPr/>
        </p:nvSpPr>
        <p:spPr>
          <a:xfrm>
            <a:off x="1755639" y="530591"/>
            <a:ext cx="62863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B48D3-E554-B5C0-F277-E77F8A948D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39" y="447020"/>
            <a:ext cx="936201" cy="92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648A10-E5DF-B79C-CC4F-4292CEB5BFD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834" y="447020"/>
            <a:ext cx="1009966" cy="875029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FC57BA-CA35-D65D-181B-64317B45F3C7}"/>
              </a:ext>
            </a:extLst>
          </p:cNvPr>
          <p:cNvSpPr txBox="1"/>
          <p:nvPr/>
        </p:nvSpPr>
        <p:spPr>
          <a:xfrm>
            <a:off x="668867" y="1618734"/>
            <a:ext cx="157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Comparison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E5D00F-85F3-FDD2-1AE6-4340D473C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891070"/>
              </p:ext>
            </p:extLst>
          </p:nvPr>
        </p:nvGraphicFramePr>
        <p:xfrm>
          <a:off x="474133" y="1988066"/>
          <a:ext cx="5621867" cy="402336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862667">
                  <a:extLst>
                    <a:ext uri="{9D8B030D-6E8A-4147-A177-3AD203B41FA5}">
                      <a16:colId xmlns:a16="http://schemas.microsoft.com/office/drawing/2014/main" val="351918962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1120282249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819223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Existing System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Proposed System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6915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Utility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Separate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Unified software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6340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Energy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Basic/separate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Centralized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56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Water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Separate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Integrated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889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Leakage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Manual/delayed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Software-based anomaly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346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Fragmented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Single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67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Energy Competition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Not integrated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Hostel leaderboard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943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Limited/manual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Automated 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217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Cross-Utility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Combined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5540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FF611D8-DAD9-6DED-C240-5CFA4B641DD5}"/>
              </a:ext>
            </a:extLst>
          </p:cNvPr>
          <p:cNvSpPr txBox="1"/>
          <p:nvPr/>
        </p:nvSpPr>
        <p:spPr>
          <a:xfrm>
            <a:off x="6849445" y="1803400"/>
            <a:ext cx="44625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Centralized utility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Early identification of abnormal water usage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Automated alerts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Hostel-wise energy ranking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Unified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Better resource-management decisions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D13AD-6877-63B5-461A-1C30FD603C19}"/>
              </a:ext>
            </a:extLst>
          </p:cNvPr>
          <p:cNvSpPr txBox="1"/>
          <p:nvPr/>
        </p:nvSpPr>
        <p:spPr>
          <a:xfrm>
            <a:off x="6665969" y="4676647"/>
            <a:ext cx="50518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Novelty</a:t>
            </a:r>
          </a:p>
          <a:p>
            <a:pPr algn="just">
              <a:buNone/>
            </a:pPr>
            <a:r>
              <a:rPr lang="en-IN" dirty="0"/>
              <a:t>Integration of utility monitoring, water-usage anomaly detection, and gamified energy-efficiency comparison within a single software-based campus management platform.</a:t>
            </a:r>
          </a:p>
        </p:txBody>
      </p:sp>
    </p:spTree>
    <p:extLst>
      <p:ext uri="{BB962C8B-B14F-4D97-AF65-F5344CB8AC3E}">
        <p14:creationId xmlns:p14="http://schemas.microsoft.com/office/powerpoint/2010/main" val="800390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4C795F-3DFF-69FC-1B0B-4A1386874A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77" y="319124"/>
            <a:ext cx="842433" cy="836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6D690E-F90A-20F3-C6BB-70F6C8B7AD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509" y="351907"/>
            <a:ext cx="731625" cy="858825"/>
          </a:xfrm>
          <a:prstGeom prst="rect">
            <a:avLst/>
          </a:prstGeom>
          <a:noFill/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866370AF-0356-6B88-67AE-F32C85E1D433}"/>
              </a:ext>
            </a:extLst>
          </p:cNvPr>
          <p:cNvSpPr/>
          <p:nvPr/>
        </p:nvSpPr>
        <p:spPr>
          <a:xfrm>
            <a:off x="1710844" y="616372"/>
            <a:ext cx="39992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</a:rPr>
              <a:t>REQUIREMENTS</a:t>
            </a:r>
            <a:endParaRPr lang="en-US" sz="3000" dirty="0"/>
          </a:p>
        </p:txBody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FFDDC2B4-9738-ADAB-E3E0-3A8D44394736}"/>
              </a:ext>
            </a:extLst>
          </p:cNvPr>
          <p:cNvSpPr/>
          <p:nvPr/>
        </p:nvSpPr>
        <p:spPr>
          <a:xfrm>
            <a:off x="11368735" y="6373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77" name="Shape 27">
            <a:extLst>
              <a:ext uri="{FF2B5EF4-FFF2-40B4-BE49-F238E27FC236}">
                <a16:creationId xmlns:a16="http://schemas.microsoft.com/office/drawing/2014/main" id="{5D1FAE77-300C-E906-EBF4-4A4DB2F14C46}"/>
              </a:ext>
            </a:extLst>
          </p:cNvPr>
          <p:cNvSpPr/>
          <p:nvPr/>
        </p:nvSpPr>
        <p:spPr>
          <a:xfrm>
            <a:off x="320040" y="6309360"/>
            <a:ext cx="11551615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1DF2F-A39F-BE9C-30F2-EFB10BC4B2EA}"/>
              </a:ext>
            </a:extLst>
          </p:cNvPr>
          <p:cNvSpPr txBox="1"/>
          <p:nvPr/>
        </p:nvSpPr>
        <p:spPr>
          <a:xfrm>
            <a:off x="586091" y="1555470"/>
            <a:ext cx="35481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Functional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User/Admin login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Hostel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Electricity data entry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Water data entry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Utility usage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Water anomaly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Leak alert generation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Energy-efficiency calculation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Hostel ranking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/>
              <a:t>Report generation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ED226-935A-7EDE-F5E0-D861B8EE33FB}"/>
              </a:ext>
            </a:extLst>
          </p:cNvPr>
          <p:cNvSpPr txBox="1"/>
          <p:nvPr/>
        </p:nvSpPr>
        <p:spPr>
          <a:xfrm>
            <a:off x="4111557" y="1555470"/>
            <a:ext cx="31906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Non-Functional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Reliability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Scalability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Maintainability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A8D3C7-A3E2-720C-B49C-4CA9669C447C}"/>
              </a:ext>
            </a:extLst>
          </p:cNvPr>
          <p:cNvSpPr txBox="1"/>
          <p:nvPr/>
        </p:nvSpPr>
        <p:spPr>
          <a:xfrm>
            <a:off x="4134255" y="3632962"/>
            <a:ext cx="38326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Programming Language:</a:t>
            </a:r>
            <a:r>
              <a:rPr lang="en-IN" dirty="0"/>
              <a:t> Java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GUI:</a:t>
            </a:r>
            <a:r>
              <a:rPr lang="en-IN" dirty="0"/>
              <a:t> Java Swing / JavaFX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Database:</a:t>
            </a:r>
            <a:r>
              <a:rPr lang="en-IN" dirty="0"/>
              <a:t> MySQL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Connectivity:</a:t>
            </a:r>
            <a:r>
              <a:rPr lang="en-IN" dirty="0"/>
              <a:t> JDBC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IDE:</a:t>
            </a:r>
            <a:r>
              <a:rPr lang="en-IN" dirty="0"/>
              <a:t> IntelliJ IDEA / Eclipse / NetBeans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OS:</a:t>
            </a:r>
            <a:r>
              <a:rPr lang="en-IN" dirty="0"/>
              <a:t> Windows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82AA8B-BB2A-BD3F-941B-CA8214D2CAEF}"/>
              </a:ext>
            </a:extLst>
          </p:cNvPr>
          <p:cNvSpPr txBox="1"/>
          <p:nvPr/>
        </p:nvSpPr>
        <p:spPr>
          <a:xfrm>
            <a:off x="8054502" y="1946889"/>
            <a:ext cx="346061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Hostel details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Electricity consumption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Water consumption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Historical usage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Alert records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Energy-efficiency scores </a:t>
            </a:r>
          </a:p>
          <a:p>
            <a:pPr>
              <a:buNone/>
            </a:pPr>
            <a:r>
              <a:rPr lang="en-IN" b="1" dirty="0"/>
              <a:t>Dataset / APIs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Software-generated / manually entered utility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External APIs:</a:t>
            </a:r>
            <a:r>
              <a:rPr lang="en-IN" dirty="0"/>
              <a:t> Not required</a:t>
            </a:r>
          </a:p>
        </p:txBody>
      </p:sp>
    </p:spTree>
    <p:extLst>
      <p:ext uri="{BB962C8B-B14F-4D97-AF65-F5344CB8AC3E}">
        <p14:creationId xmlns:p14="http://schemas.microsoft.com/office/powerpoint/2010/main" val="3770732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30">
            <a:extLst>
              <a:ext uri="{FF2B5EF4-FFF2-40B4-BE49-F238E27FC236}">
                <a16:creationId xmlns:a16="http://schemas.microsoft.com/office/drawing/2014/main" id="{22252087-C230-2AC9-4C6C-7123BCEC7FB1}"/>
              </a:ext>
            </a:extLst>
          </p:cNvPr>
          <p:cNvSpPr/>
          <p:nvPr/>
        </p:nvSpPr>
        <p:spPr>
          <a:xfrm>
            <a:off x="11368735" y="63733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B00EBD1-5206-054B-BB92-0DED5726E1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39" y="447020"/>
            <a:ext cx="936201" cy="92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30BE08F5-32E7-822B-DD08-F8E73CA0B07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509" y="351907"/>
            <a:ext cx="731625" cy="858825"/>
          </a:xfrm>
          <a:prstGeom prst="rect">
            <a:avLst/>
          </a:prstGeom>
          <a:noFill/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1E16BA4C-CCF0-30DB-1E16-2196A2B57AA2}"/>
              </a:ext>
            </a:extLst>
          </p:cNvPr>
          <p:cNvSpPr txBox="1"/>
          <p:nvPr/>
        </p:nvSpPr>
        <p:spPr>
          <a:xfrm>
            <a:off x="3078328" y="543806"/>
            <a:ext cx="64939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D0A4C-23C4-FAA2-5BEC-B2AEC9A9DE37}"/>
              </a:ext>
            </a:extLst>
          </p:cNvPr>
          <p:cNvSpPr txBox="1"/>
          <p:nvPr/>
        </p:nvSpPr>
        <p:spPr>
          <a:xfrm>
            <a:off x="6435296" y="3174873"/>
            <a:ext cx="45501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Module Description</a:t>
            </a:r>
          </a:p>
          <a:p>
            <a:pPr>
              <a:buNone/>
            </a:pPr>
            <a:r>
              <a:rPr lang="en-IN" b="1" dirty="0"/>
              <a:t>1. Utility Monitoring Module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Records electricity and water usage. </a:t>
            </a:r>
          </a:p>
          <a:p>
            <a:pPr>
              <a:buNone/>
            </a:pPr>
            <a:r>
              <a:rPr lang="en-IN" b="1" dirty="0"/>
              <a:t>2. Leak Detection &amp; Anomaly Alert Module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water-usage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Detects abnormal consumption.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Generates alerts. </a:t>
            </a:r>
          </a:p>
          <a:p>
            <a:pPr>
              <a:buNone/>
            </a:pPr>
            <a:r>
              <a:rPr lang="en-IN" b="1" dirty="0"/>
              <a:t>3. Gamified Energy Competition Module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Calculates energy efficiency.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Ranks hostel blocks.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Displays leaderboard and rewards.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B4F1E6-8371-A8CB-F87B-7970DC51B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39" y="1481328"/>
            <a:ext cx="5143500" cy="5029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AA12D5-243E-42BF-8C09-441EA5FA60E6}"/>
              </a:ext>
            </a:extLst>
          </p:cNvPr>
          <p:cNvSpPr txBox="1"/>
          <p:nvPr/>
        </p:nvSpPr>
        <p:spPr>
          <a:xfrm>
            <a:off x="6435296" y="1748135"/>
            <a:ext cx="4461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Workflow</a:t>
            </a:r>
          </a:p>
          <a:p>
            <a:pPr>
              <a:buNone/>
            </a:pPr>
            <a:r>
              <a:rPr lang="en-IN" dirty="0"/>
              <a:t>Data Entry → Database → Analysis → Anomaly Detection → Alerts &amp; Ranking → Dashboard</a:t>
            </a:r>
          </a:p>
        </p:txBody>
      </p:sp>
    </p:spTree>
    <p:extLst>
      <p:ext uri="{BB962C8B-B14F-4D97-AF65-F5344CB8AC3E}">
        <p14:creationId xmlns:p14="http://schemas.microsoft.com/office/powerpoint/2010/main" val="733334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FA3677-208A-F7CF-B1B6-F6ECE1870BD4}"/>
              </a:ext>
            </a:extLst>
          </p:cNvPr>
          <p:cNvSpPr txBox="1"/>
          <p:nvPr/>
        </p:nvSpPr>
        <p:spPr>
          <a:xfrm>
            <a:off x="2116666" y="883314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PLANNING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1FB76A-1D82-47E4-D5B5-1C40BE50CD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74" y="412941"/>
            <a:ext cx="996527" cy="989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A86080-DCEE-E140-6413-03E43B36C0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5668" y="380966"/>
            <a:ext cx="867094" cy="101784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916E1B-1D4A-F554-919E-B323CA5CA0E6}"/>
              </a:ext>
            </a:extLst>
          </p:cNvPr>
          <p:cNvSpPr txBox="1"/>
          <p:nvPr/>
        </p:nvSpPr>
        <p:spPr>
          <a:xfrm>
            <a:off x="355601" y="1802474"/>
            <a:ext cx="40809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Work Breakdown Structure (WBS)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Problem Identification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Literature Survey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Requirement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System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Database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UI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Java Application Development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Utility Monitoring Module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Water Anomaly Detection Module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Energy Competition Module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Documentation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95D68-FEFD-57CF-0BD7-57855E064388}"/>
              </a:ext>
            </a:extLst>
          </p:cNvPr>
          <p:cNvSpPr txBox="1"/>
          <p:nvPr/>
        </p:nvSpPr>
        <p:spPr>
          <a:xfrm>
            <a:off x="4055533" y="1793713"/>
            <a:ext cx="40809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Milestones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Literature Survey Completed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Requirement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UI Design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Database Completion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Utility Monitoring Module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Water Anomaly Detection Module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Energy Competition Module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Final Testing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4F7428-A6FC-22AD-67D1-F4B319F51762}"/>
              </a:ext>
            </a:extLst>
          </p:cNvPr>
          <p:cNvSpPr txBox="1"/>
          <p:nvPr/>
        </p:nvSpPr>
        <p:spPr>
          <a:xfrm>
            <a:off x="8136466" y="1625777"/>
            <a:ext cx="149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Risk Analysis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E7B3ADA-B2DE-CFAE-CA4A-2866BDD71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909114"/>
              </p:ext>
            </p:extLst>
          </p:nvPr>
        </p:nvGraphicFramePr>
        <p:xfrm>
          <a:off x="7755468" y="2261206"/>
          <a:ext cx="4080930" cy="3657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40465">
                  <a:extLst>
                    <a:ext uri="{9D8B030D-6E8A-4147-A177-3AD203B41FA5}">
                      <a16:colId xmlns:a16="http://schemas.microsoft.com/office/drawing/2014/main" val="2695152344"/>
                    </a:ext>
                  </a:extLst>
                </a:gridCol>
                <a:gridCol w="2040465">
                  <a:extLst>
                    <a:ext uri="{9D8B030D-6E8A-4147-A177-3AD203B41FA5}">
                      <a16:colId xmlns:a16="http://schemas.microsoft.com/office/drawing/2014/main" val="4191098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Risk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Solution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204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Incorrect utility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313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Database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Regular backup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966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Anomaly detection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Threshold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417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Application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Modular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5629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entry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Multiple authorized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15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issues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Database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230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7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53EA41-6318-02BD-980F-0EAB00775410}"/>
              </a:ext>
            </a:extLst>
          </p:cNvPr>
          <p:cNvSpPr txBox="1"/>
          <p:nvPr/>
        </p:nvSpPr>
        <p:spPr>
          <a:xfrm>
            <a:off x="1322388" y="196108"/>
            <a:ext cx="7542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EXPECTED OUTCOMES &amp; REFERENCES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9030F-37FB-AAAA-F918-9414774607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1" y="70860"/>
            <a:ext cx="1030393" cy="10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D40727-38FA-BC9E-1252-5B597E11994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612" y="196108"/>
            <a:ext cx="934827" cy="1097355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34AC5B-A137-5016-D6EB-AC9C6AADF19F}"/>
              </a:ext>
            </a:extLst>
          </p:cNvPr>
          <p:cNvSpPr txBox="1"/>
          <p:nvPr/>
        </p:nvSpPr>
        <p:spPr>
          <a:xfrm>
            <a:off x="163567" y="1181107"/>
            <a:ext cx="33951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Expected Deliverables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Java-based utility monitoring application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Centralized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Water anomaly detection system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Automated alert mechanism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Energy-efficiency leaderboard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MySQL 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Reports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Project documentation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94231C-CA02-91B5-058D-690CC6F8D795}"/>
              </a:ext>
            </a:extLst>
          </p:cNvPr>
          <p:cNvSpPr txBox="1"/>
          <p:nvPr/>
        </p:nvSpPr>
        <p:spPr>
          <a:xfrm>
            <a:off x="3558700" y="1181107"/>
            <a:ext cx="35898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Expected Benefits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Centralized utility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Faster identification of abnormal water usage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Improved energy awareness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Better resource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Encouragement of energy conservation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Data-driven maintenance decisions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DDF11-F273-A0A6-E811-B6517BDB7028}"/>
              </a:ext>
            </a:extLst>
          </p:cNvPr>
          <p:cNvSpPr txBox="1"/>
          <p:nvPr/>
        </p:nvSpPr>
        <p:spPr>
          <a:xfrm>
            <a:off x="414867" y="458990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Expected Outcome</a:t>
            </a:r>
          </a:p>
          <a:p>
            <a:pPr algn="just">
              <a:buNone/>
            </a:pPr>
            <a:r>
              <a:rPr lang="en-IN" dirty="0"/>
              <a:t>A unified software platform for monitoring campus utility usage, detecting abnormal water consumption, and promoting energy efficiency through hostel-level competition.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D7B815-8D5B-FF0B-DD1D-BAFE7B352B01}"/>
              </a:ext>
            </a:extLst>
          </p:cNvPr>
          <p:cNvSpPr txBox="1"/>
          <p:nvPr/>
        </p:nvSpPr>
        <p:spPr>
          <a:xfrm>
            <a:off x="7148567" y="1520673"/>
            <a:ext cx="455236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IEEE References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R. K. Mondal, “Smart Campus Energy Management System,” </a:t>
            </a:r>
            <a:r>
              <a:rPr lang="en-IN" i="1" dirty="0"/>
              <a:t>SVU Press</a:t>
            </a:r>
            <a:r>
              <a:rPr lang="en-IN" dirty="0"/>
              <a:t>, 2026, pp. 67–79.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Y. Shen and J. Gao, “Campus Electricity Smart Management System,” </a:t>
            </a:r>
            <a:r>
              <a:rPr lang="en-IN" i="1" dirty="0"/>
              <a:t>Proc. ICAIPD</a:t>
            </a:r>
            <a:r>
              <a:rPr lang="en-IN" dirty="0"/>
              <a:t>, 2025, pp. 45–50.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A. </a:t>
            </a:r>
            <a:r>
              <a:rPr lang="en-IN" dirty="0" err="1"/>
              <a:t>Manassra</a:t>
            </a:r>
            <a:r>
              <a:rPr lang="en-IN" dirty="0"/>
              <a:t> and G. Işık, “AI-Supported Energy Management in Smart Campuses,” </a:t>
            </a:r>
            <a:r>
              <a:rPr lang="en-IN" i="1" dirty="0"/>
              <a:t>Journal of Smart Systems Research</a:t>
            </a:r>
            <a:r>
              <a:rPr lang="en-IN" dirty="0"/>
              <a:t>, 2025.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C. Pandian and P. J. A. Alphonse, “Deep Learning for Water Leak Detection,” </a:t>
            </a:r>
            <a:r>
              <a:rPr lang="en-IN" i="1" dirty="0"/>
              <a:t>Discover Computing</a:t>
            </a:r>
            <a:r>
              <a:rPr lang="en-IN" dirty="0"/>
              <a:t>, vol. 27, 2024.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T. A. Syed et al., “Smart Water Management with Digital Twins,” </a:t>
            </a:r>
            <a:r>
              <a:rPr lang="en-IN" i="1" dirty="0"/>
              <a:t>Water</a:t>
            </a:r>
            <a:r>
              <a:rPr lang="en-IN" dirty="0"/>
              <a:t>, vol. 16, 2024.</a:t>
            </a:r>
          </a:p>
        </p:txBody>
      </p:sp>
    </p:spTree>
    <p:extLst>
      <p:ext uri="{BB962C8B-B14F-4D97-AF65-F5344CB8AC3E}">
        <p14:creationId xmlns:p14="http://schemas.microsoft.com/office/powerpoint/2010/main" val="571652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50,688 Thank You Stock Photos - Free &amp; Royalty-Free Stock ...">
            <a:extLst>
              <a:ext uri="{FF2B5EF4-FFF2-40B4-BE49-F238E27FC236}">
                <a16:creationId xmlns:a16="http://schemas.microsoft.com/office/drawing/2014/main" id="{DC0F3304-BC24-8457-64B0-A434B3037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467" y="262467"/>
            <a:ext cx="6324599" cy="632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490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770</TotalTime>
  <Words>1001</Words>
  <Application>Microsoft Office PowerPoint</Application>
  <PresentationFormat>Widescreen</PresentationFormat>
  <Paragraphs>246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</vt:lpstr>
      <vt:lpstr>Times New Roman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Imthiaz I</dc:creator>
  <cp:lastModifiedBy>MD Imthiaz I</cp:lastModifiedBy>
  <cp:revision>2</cp:revision>
  <dcterms:created xsi:type="dcterms:W3CDTF">2026-01-09T07:40:20Z</dcterms:created>
  <dcterms:modified xsi:type="dcterms:W3CDTF">2026-08-04T16:22:07Z</dcterms:modified>
</cp:coreProperties>
</file>